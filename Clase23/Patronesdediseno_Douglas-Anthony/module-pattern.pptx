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014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breve. Presentar el tema (Module Pattern) y a los tres integrantes del grupo, indicando qué parte expondrá cada uno. Duración objetivo total: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rápidamente los seis puntos de la agenda. No detenerse aquí; es solo un mapa de lo que viene.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el patrón en una frase clara. Mencionar que Douglas Crockford lo popularizó. El diagrama de la derecha se retomará más adelante al ver la estructura público/privado.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escenario 'sin patrón': todo en el objeto global. Dar ejemplo mental: dos scripts que ambos declaran una variable 'contador' y uno pisa al otro. El Module Pattern evita justamente 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IIFE con el código de la derecha: los paréntesis envuelven la función y el '()' final la invoca de inmediato. Luego resaltar que 'contador' sigue vivo gracias al closure, aunque sea privado.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Caminar el flujo de 4 pasos de izquierda, en paralelo con el código de la derecha. Enfatizar la última línea: acceder a 'Modulo.dato' desde afuera da 'undefined' porque nunca se expuso.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ejemplo del carrito de compras línea por línea, a alto nivel. No leer todo el código: destacar solo los tres puntos de la derecha. El archivo completo, con más comentarios, está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ventajas y desventajas sin leer literalmente cada bullet; elegir 2-3 de cada lado para comentar con más detalle. La última desventaja conecta directamente con la siguiente slide (alternativas modernas).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el patrón clásico con su evolución natural: ES6 Modules. Aclarar que el Module Pattern sigue siendo útil para entender el 'por qué' detrás de import/export, y en casos puntuales dentro de un mismo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clave resaltada. Mencionar que el código completo (los 3 archivos de ejemplo) está en el repositorio de GitHub del grupo. Abrir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188720"/>
            <a:ext cx="3291840" cy="4480560"/>
          </a:xfrm>
          <a:prstGeom prst="roundRect">
            <a:avLst>
              <a:gd name="adj" fmla="val 6944"/>
            </a:avLst>
          </a:prstGeom>
          <a:solidFill>
            <a:srgbClr val="2C2C55"/>
          </a:solidFill>
          <a:ln w="12700">
            <a:solidFill>
              <a:srgbClr val="4040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508760"/>
            <a:ext cx="2743200" cy="1645920"/>
          </a:xfrm>
          <a:prstGeom prst="roundRect">
            <a:avLst>
              <a:gd name="adj" fmla="val 8333"/>
            </a:avLst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15087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0" y="3383280"/>
            <a:ext cx="2743200" cy="1645920"/>
          </a:xfrm>
          <a:prstGeom prst="roundRect">
            <a:avLst>
              <a:gd name="adj" fmla="val 8333"/>
            </a:avLst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3383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· JAVASCRIPT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Module Pattern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 y organización de código en JavaScript mediante closures e IIFE.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760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______________________   ·   ______________________   ·   ______________________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080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· Máx. 10 minutos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7190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DB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Module Pattern?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7190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DB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0" y="155448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363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DB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29718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IIFE y Closures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97180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31363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DB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98080" y="29718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público vs. privado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5537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DB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828800" y="43891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ejemplo (2 variantes)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5537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DB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98080" y="43891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Ventajas, desventajas y alternativas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es el Module Pattern?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patrón de diseño estructural de JavaScript que permite agrupar variables y funciones relacionadas dentro de una sola unidad (un “módulo”), exponiendo solo lo necesario al exterior.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3291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DB4F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IIFE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3291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C2C5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Popularizado por </a:t>
            </a: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Crockford</a:t>
            </a: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mediados de los 2000, antes de que existieran clases (ES6) o módulos nativos en JavaScript.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4663440" cy="4480560"/>
          </a:xfrm>
          <a:prstGeom prst="roundRect">
            <a:avLst>
              <a:gd name="adj" fmla="val 4082"/>
            </a:avLst>
          </a:prstGeom>
          <a:solidFill>
            <a:srgbClr val="1B1B3A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21031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2C2C55"/>
          </a:solidFill>
          <a:ln w="19050">
            <a:solidFill>
              <a:srgbClr val="6C5CE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315200" y="21031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funciones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384048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0DB4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38404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¿Qué problema resuelve?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ES6, todo el código en JavaScript vivía por defecto en el mismo espacio global (window). Esto generaba conflictos difíciles de depurar.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 global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distintos scripts chocan entre sí y se sobrescriben sin aviso.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7432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privacidad real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parte del código puede leer o modificar el estado interno de otra.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468880"/>
            <a:ext cx="356616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7432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mantener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40690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claro qué partes del código son la API pública y cuáles son detalles internos.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Fundamentos: IIFE + Closures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Module Pattern se construye sobre dos características del lenguaje: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IIFE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Invoked Function Expression: una función que se define y se ejecuta al instante, creando un scope propio y desechable.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Closures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internas 'recuerdan' las variables del scope donde nacieron, incluso después de que la IIFE terminó de ejecutarse.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1B1B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116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793992" y="2011680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7050024" y="2011680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33172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(function 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contador = 0;  // privado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incrementar()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contador++;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window.Contador =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subir: incrementar,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valor: () =&gt; contador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})();  // se ejecuta YA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Estructura: público vs. privado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NO se devuelve en el “return” queda encerrado (privado) dentro del scope de la IIFE.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3317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declaran variables y funciones dentro de la IIFE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privadas: nadie fuera puede acceder a ellas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069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“return { ... }” elige qué se expone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9377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eso queda accesible como API pública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303520" cy="4937760"/>
          </a:xfrm>
          <a:prstGeom prst="roundRect">
            <a:avLst>
              <a:gd name="adj" fmla="val 2222"/>
            </a:avLst>
          </a:prstGeom>
          <a:solidFill>
            <a:srgbClr val="1B1B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5544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6793992" y="1554480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19" name="Shape 17"/>
          <p:cNvSpPr/>
          <p:nvPr/>
        </p:nvSpPr>
        <p:spPr>
          <a:xfrm>
            <a:off x="7050024" y="1554480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187452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Modulo = (function 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--- privado ---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dato = 42;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ayuda() { /*...*/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--- público ---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obtenerDato()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dato;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E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Modulo.obtenerDato();  // ✔ 42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Modulo.dato;           // ✘ undefined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Código: Module Pattern clásico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0" y="548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B1B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548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01-module-pattern-clasico.js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00800" cy="4937760"/>
          </a:xfrm>
          <a:prstGeom prst="roundRect">
            <a:avLst>
              <a:gd name="adj" fmla="val 2222"/>
            </a:avLst>
          </a:prstGeom>
          <a:solidFill>
            <a:srgbClr val="1B1B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554480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554480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CarritoDeCompras = (function 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items = [];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total = 0;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calcularTotal()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items.reduce((acc, i) =&gt;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acc + i.precio * i.cantidad, 0);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agregarItem(nombre, precio, cant = 1)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items.push({ nombre, precio, cantidad: cant });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calcularTotal();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obtenerTotal() { return total;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})();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23760" y="146304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(items, total) vive solo dentro de la IIFE.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calcularTotal() es un helper privado: no aparece en el return.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agregarItem() y obtenerTotal() son la única forma de interactuar con el módulo desde afuera.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Ventajas y desventajas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5394960" cy="640080"/>
          </a:xfrm>
          <a:prstGeom prst="roundRect">
            <a:avLst>
              <a:gd name="adj" fmla="val 21429"/>
            </a:avLst>
          </a:prstGeom>
          <a:solidFill>
            <a:srgbClr val="F0DB4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5394960" cy="228600"/>
          </a:xfrm>
          <a:prstGeom prst="rect">
            <a:avLst/>
          </a:prstGeom>
          <a:solidFill>
            <a:srgbClr val="F0DB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Ventajas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 real de estado y lógica privada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contaminar el espacio de nombres global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clara e intencional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transpiladores ni build tools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entorno JS, incluso muy antiguo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3A6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463040"/>
            <a:ext cx="5394960" cy="640080"/>
          </a:xfrm>
          <a:prstGeom prst="roundRect">
            <a:avLst>
              <a:gd name="adj" fmla="val 21429"/>
            </a:avLst>
          </a:prstGeom>
          <a:solidFill>
            <a:srgbClr val="6C5CE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874520"/>
            <a:ext cx="5394960" cy="2286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63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Desventajas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 privados no accesibles ni desde tests externos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extender una vez creado el módulo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público es una copia de función (más memoria)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 día, ES6 Modules cubren el mismo objetivo de forma nativa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¿Cuándo usarlo hoy?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modernos, ES6 Modules (import / export) resuelven el mismo problema de forma nativa y con mejores herramientas (tree-shaking, análisis estático).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código legado (librerías anteriores a ES6)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sin soporte para módulos nativos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Encapsular estado dentro de una sola función o closure puntual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base conceptual para entender clases y módulos ES6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371600"/>
            <a:ext cx="5303520" cy="4937760"/>
          </a:xfrm>
          <a:prstGeom prst="roundRect">
            <a:avLst>
              <a:gd name="adj" fmla="val 2222"/>
            </a:avLst>
          </a:prstGeom>
          <a:solidFill>
            <a:srgbClr val="1B1B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37960" y="15544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793992" y="1554480"/>
            <a:ext cx="128016" cy="128016"/>
          </a:xfrm>
          <a:prstGeom prst="ellipse">
            <a:avLst/>
          </a:prstGeom>
          <a:solidFill>
            <a:srgbClr val="F0DB4F"/>
          </a:solidFill>
          <a:ln/>
        </p:spPr>
      </p:sp>
      <p:sp>
        <p:nvSpPr>
          <p:cNvPr id="8" name="Shape 6"/>
          <p:cNvSpPr/>
          <p:nvPr/>
        </p:nvSpPr>
        <p:spPr>
          <a:xfrm>
            <a:off x="7050024" y="1554480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87452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carrito.js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items = [];  // privado por archivo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agregarItem(p)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items.push(p);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obtenerTotal()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items.reduce(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(a, i) =&gt; a + i.precio, 0);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main.js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agregarItem } from './carrito.js';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Pattern · Patrones de Diseño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Module Pattern fue la solución de la comunidad JavaScript para lograr encapsulamiento antes de que el lenguaje lo ofreciera de forma nativa. Combina IIFE y closures para separar claramente qué es interno y qué es la API pública de un componente de código.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6217920" cy="1371600"/>
          </a:xfrm>
          <a:prstGeom prst="roundRect">
            <a:avLst>
              <a:gd name="adj" fmla="val 8000"/>
            </a:avLst>
          </a:prstGeom>
          <a:solidFill>
            <a:srgbClr val="2C2C5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  </a:t>
            </a:r>
            <a:r>
              <a:rPr lang="en-US" sz="1400" dirty="0">
                <a:solidFill>
                  <a:srgbClr val="E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no se expone explícitamente, queda protegido por el closure de la IIFE.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23760" y="1554480"/>
            <a:ext cx="4389120" cy="4572000"/>
          </a:xfrm>
          <a:prstGeom prst="roundRect">
            <a:avLst>
              <a:gd name="adj" fmla="val 3125"/>
            </a:avLst>
          </a:prstGeom>
          <a:solidFill>
            <a:srgbClr val="16162E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224028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Crockford, D. — “JavaScript: The Good Parts”, O’Reilly, 2008.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Osmani, A. — “Learning JavaScript Design Patterns”, O’Reilly.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“Closures” y “JavaScript modules”.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Heilmann, C. — “Revealing Module Pattern”, artículo original.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¿Preguntas?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1383</Words>
  <Application>Microsoft Office PowerPoint</Application>
  <PresentationFormat>Panorámica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Anthony Campos Mora</cp:lastModifiedBy>
  <cp:revision>2</cp:revision>
  <dcterms:created xsi:type="dcterms:W3CDTF">2026-08-11T00:27:53Z</dcterms:created>
  <dcterms:modified xsi:type="dcterms:W3CDTF">2026-08-11T03:11:48Z</dcterms:modified>
</cp:coreProperties>
</file>